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6" d="100"/>
          <a:sy n="19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3281-02E1-FF75-AE64-F90EDB60F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C1BE0-B0B1-80F8-712B-AB18B302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53EC0-ED2F-130C-DB79-DC90C37A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289EB-FA0B-8C27-8C9D-3B786E13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8423D-1F69-668A-E66D-118CF0C4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4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06C2-F99C-6076-4477-C932024D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E08C-75AD-EACE-F712-77DEC6611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214AA-11E2-1C99-BAAB-2D0841FB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60445-B490-6C59-9725-4158A561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F5BD3-D400-0150-8B68-B1993E9A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6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BE09-997B-50AF-5DD4-20614847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9ACAF-3D66-E321-E441-2C6B45B5B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2D14-AC54-7DB6-62FC-91B72EAA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6F13-4873-9B1E-51D1-3AEF5382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B803-5906-9B61-2F63-2E01CEF2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853E-8F57-6EF7-C71E-3575F2E3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8B7C-3AC1-E78D-FE8D-4C148BC30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3F31D-8BA0-9FDF-E0B3-590D73EEA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FADE4-A332-112A-B7DD-8D0BA2A0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11BD8-736E-5DCA-8A66-AE41EB69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43313-015D-C31B-1441-E299591C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5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9B21-2EE3-9F79-9F16-B70462C8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EB000-77ED-3636-B5FD-EB0D1B59D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1013C-23DA-B48B-D45E-79762F16C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2F755-4FD8-74D1-7E82-74DCC2A92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3AD94-722E-5F7E-53BB-284DA0CC8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8A42F-1B6A-8EE6-59E4-A252FF4E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B68B1-E86E-E1B4-A491-81A0A213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37C88-72B0-24D0-D2AB-F42FB2FC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1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DB24-0EDF-E73E-570C-87D200D6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B1261-28D3-E26C-47FA-2777A624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A1A3C-5218-47A6-FEAC-B9C7DB7F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7C1ED-B6F2-08FD-A279-EF67DA4A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7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FAB4E-C77E-031B-30C0-BB38AF13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3E537-0AE2-26B0-095C-D23B8A63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1A798-B6E0-E6A9-E5B6-0CC5A823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7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73CA-FF69-D2C1-175F-A0BEFA1C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086B-6C96-C236-EEE1-C3E33DE3F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9AA28-30D7-E6BC-D604-A48B2E36F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F93FC-13FD-B184-A424-AACCCF63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7EF5C-51B7-F05C-D23A-15C686F2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D5DF2-D306-C39B-08A1-8F247861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9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7ED7-9442-C082-8F7A-D60DDBEB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4ABEDC-08CB-2AFD-24DF-82FD3C0E0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D78FA-A9E3-08CD-B0EE-949F46413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6E6C8-254E-729E-6BFE-3482E1CD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4FEA5-90DE-79A0-4E4B-03DADBB8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F5028-FCFD-72D3-450F-3C994F69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9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4D86-0E2F-A1BE-2F53-13CD0D19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666C-828C-71FF-1A90-A849D839F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972BC-1640-7758-5887-F70EB3A6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EB2DF-C59A-F04D-FC6E-FA5CC43C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4648C-75A8-C3E3-203E-7F181CAD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3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164A3-13F7-1EA5-95D1-7026BFCBE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C562C-E94E-223C-B6A4-E5D4188BE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F2860-1E1C-93BD-1DCB-14B7608F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9BD0C-07E1-A1AE-99C7-5E14C0FE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6A04A-9506-6A4B-B900-C43A693A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0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6EB90-4B3C-CB2D-F55A-1CE9F0BC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FE925-6B8B-19A4-3B41-3A329A069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4DAB-733C-F710-1701-ECEE25082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7BB21-51C8-493D-A2F2-9B61D89A70F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2BFA1-3655-41A9-1CC5-28F3A427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F7261-B5AB-E410-A876-8B29EDFB7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85E91-C6AA-4631-9A76-57B08452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1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8D2B7-77F6-A303-BE33-238006A5010F}"/>
              </a:ext>
            </a:extLst>
          </p:cNvPr>
          <p:cNvSpPr/>
          <p:nvPr/>
        </p:nvSpPr>
        <p:spPr>
          <a:xfrm>
            <a:off x="508000" y="1524000"/>
            <a:ext cx="152400" cy="2794000"/>
          </a:xfrm>
          <a:prstGeom prst="rect">
            <a:avLst/>
          </a:prstGeom>
          <a:solidFill>
            <a:srgbClr val="8CB4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E656D-FE46-DE18-4C73-D2C4020E51B9}"/>
              </a:ext>
            </a:extLst>
          </p:cNvPr>
          <p:cNvSpPr txBox="1"/>
          <p:nvPr/>
        </p:nvSpPr>
        <p:spPr>
          <a:xfrm>
            <a:off x="965200" y="1524000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ECF3F7"/>
                </a:solidFill>
                <a:latin typeface="Aptos Display" panose="020B0004020202020204" pitchFamily="34" charset="0"/>
              </a:rPr>
              <a:t>Sparta EV Run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4E26A-E1EB-D9BE-01BB-A57FF042A596}"/>
              </a:ext>
            </a:extLst>
          </p:cNvPr>
          <p:cNvSpPr txBox="1"/>
          <p:nvPr/>
        </p:nvSpPr>
        <p:spPr>
          <a:xfrm>
            <a:off x="1016000" y="266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D2E5F0"/>
                </a:solidFill>
                <a:latin typeface="Aptos" panose="020B0004020202020204" pitchFamily="34" charset="0"/>
              </a:rPr>
              <a:t>Supporting Sparta demand while minimizing logistics operating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9A494-1DA3-BEDE-8E3B-72B097430159}"/>
              </a:ext>
            </a:extLst>
          </p:cNvPr>
          <p:cNvSpPr txBox="1"/>
          <p:nvPr/>
        </p:nvSpPr>
        <p:spPr>
          <a:xfrm>
            <a:off x="1016000" y="5334000"/>
            <a:ext cx="533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B8CDDC"/>
                </a:solidFill>
                <a:latin typeface="Aptos" panose="020B0004020202020204" pitchFamily="34" charset="0"/>
              </a:rPr>
              <a:t>Prepared for: Logistics Delivery Manager</a:t>
            </a:r>
          </a:p>
        </p:txBody>
      </p:sp>
    </p:spTree>
    <p:extLst>
      <p:ext uri="{BB962C8B-B14F-4D97-AF65-F5344CB8AC3E}">
        <p14:creationId xmlns:p14="http://schemas.microsoft.com/office/powerpoint/2010/main" val="32713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F85725-DC80-ECD9-200C-2A39024E286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0DF5D-137C-2FF3-7BAA-45FD0521C3C6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Decision to Make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2C07D-D845-1815-6B79-160713BC726C}"/>
              </a:ext>
            </a:extLst>
          </p:cNvPr>
          <p:cNvSpPr txBox="1"/>
          <p:nvPr/>
        </p:nvSpPr>
        <p:spPr>
          <a:xfrm>
            <a:off x="609600" y="1397000"/>
            <a:ext cx="10414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Select the most practical EV run strategy to support Sparta demand.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Minimize logistics operating cost while preserving execution reliability.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Prefer an existing-fleet solution over adding a dedicated OSV.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83CEA-E2E2-1C83-5BC1-592A3D65FCC7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This decision is about finding the best operating model for Sparta without structurally increasing cost unless reliability demands it.</a:t>
            </a:r>
          </a:p>
        </p:txBody>
      </p:sp>
    </p:spTree>
    <p:extLst>
      <p:ext uri="{BB962C8B-B14F-4D97-AF65-F5344CB8AC3E}">
        <p14:creationId xmlns:p14="http://schemas.microsoft.com/office/powerpoint/2010/main" val="95638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2F4C85-44F2-DFBE-0BD4-CA4A5E55057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93B6A-7BCE-7B60-45C6-D4C8C63B68D0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Business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EE5AE-F06F-D95F-17DD-BFF0B8769806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Sparta introduces new diesel and logistics demand into the EV run system.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FSV all-in run cost is about $25k/day.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OSV all-in run cost is about $80k/day.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Objective: absorb demand with the current fleet wherever feasible.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7ACA6-A1FD-9290-BB18-714410E9DD76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The cost gap between FSV and OSV is the key economic driver. Any solution that adds a permanent OSV must provide a clear reliability benefit to justify the spend.</a:t>
            </a:r>
          </a:p>
        </p:txBody>
      </p:sp>
    </p:spTree>
    <p:extLst>
      <p:ext uri="{BB962C8B-B14F-4D97-AF65-F5344CB8AC3E}">
        <p14:creationId xmlns:p14="http://schemas.microsoft.com/office/powerpoint/2010/main" val="136620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382736-0D44-2D9F-A5A4-85A0154DDC1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633B0-DE9D-A3A3-A15A-C04678379B30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Options Evaluated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27729-6799-885B-1BEF-6BB872B4E984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Current State: baseline only, does not support Sparta demand.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Option 1: 12-month solution with added OSV; Mars EV dates shift.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Option 2: no asset moved off current EV schedule.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Option 3: best fit for about 8 months; higher weather recovery risk.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2982B-FC47-F334-6A96-2E55BC8DA164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The analysis compares cost, fleet saturation, and schedule recoverability. The main question is where to trade off cost versus resilience.</a:t>
            </a:r>
          </a:p>
        </p:txBody>
      </p:sp>
    </p:spTree>
    <p:extLst>
      <p:ext uri="{BB962C8B-B14F-4D97-AF65-F5344CB8AC3E}">
        <p14:creationId xmlns:p14="http://schemas.microsoft.com/office/powerpoint/2010/main" val="331360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23B615-9767-31EE-A326-265C06FAAA3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7B094-5D6D-D253-B3A1-C0074EAD6F57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Executive 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3BDBE-F616-BAC7-79E7-F231F37B973E}"/>
              </a:ext>
            </a:extLst>
          </p:cNvPr>
          <p:cNvSpPr txBox="1"/>
          <p:nvPr/>
        </p:nvSpPr>
        <p:spPr>
          <a:xfrm>
            <a:off x="609600" y="1397000"/>
            <a:ext cx="10414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Use Option 3 as the base strategy during stable operating months.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Keep Option 1 as the contingency for fronts season or repeat recovery failures.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Do not pursue Option 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4B6089-4D8F-633A-5A38-A44C9676C5DE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Option 3 is the lowest-cost workable plan. Option 1 remains the lowest-risk backup if weather or recovery performance degrades.</a:t>
            </a:r>
          </a:p>
        </p:txBody>
      </p:sp>
    </p:spTree>
    <p:extLst>
      <p:ext uri="{BB962C8B-B14F-4D97-AF65-F5344CB8AC3E}">
        <p14:creationId xmlns:p14="http://schemas.microsoft.com/office/powerpoint/2010/main" val="75802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228944-7001-BD3F-3ED5-BEFE0C561A5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3624A-7A63-9735-BA23-8A9E13078404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Option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8FC20C-D6D2-EBE1-72B1-363C3F516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57241"/>
              </p:ext>
            </p:extLst>
          </p:nvPr>
        </p:nvGraphicFramePr>
        <p:xfrm>
          <a:off x="381000" y="11684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99791389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466135049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3734916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1054612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Option</a:t>
                      </a:r>
                    </a:p>
                  </a:txBody>
                  <a:tcPr>
                    <a:solidFill>
                      <a:srgbClr val="8CB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Pros</a:t>
                      </a:r>
                    </a:p>
                  </a:txBody>
                  <a:tcPr>
                    <a:solidFill>
                      <a:srgbClr val="8CB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Cons</a:t>
                      </a:r>
                    </a:p>
                  </a:txBody>
                  <a:tcPr>
                    <a:solidFill>
                      <a:srgbClr val="8CB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Takeaway</a:t>
                      </a:r>
                    </a:p>
                  </a:txBody>
                  <a:tcPr>
                    <a:solidFill>
                      <a:srgbClr val="8CB4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8108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Current State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Established operating rhythm. Existing vessel pattern is familiar.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Does not support Sparta demand.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Baseline only.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06631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Option 1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Most stable operating model. Dedicated OSV for Sparta. Only Mars requires EV date change. Better recovery after delays.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Highest cost due to added OSV. Does not meet the goal of using the existing fleet.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Best reliability, weakest cost efficiency.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16987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Option 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Keeps current EV dates unchanged.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Overcommits FSV capacity. Too many vessels committed at once. Limited recovery flexibility.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Not recommended.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716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Option 3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Best cost and operability balance for most of the year. Avoids full-time added OSV. Keeps fleet count closer to current state.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Tighter recovery margin. Higher exposure to fronts and weather disruption.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242A2E"/>
                          </a:solidFill>
                          <a:latin typeface="Aptos" panose="020B0004020202020204" pitchFamily="34" charset="0"/>
                        </a:rPr>
                        <a:t>Best base strategy if paired with clear contingency triggers.</a:t>
                      </a:r>
                    </a:p>
                  </a:txBody>
                  <a:tcPr>
                    <a:solidFill>
                      <a:srgbClr val="E2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7572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93176A8-7045-69BE-E063-3ABFF2B13B09}"/>
              </a:ext>
            </a:extLst>
          </p:cNvPr>
          <p:cNvSpPr/>
          <p:nvPr/>
        </p:nvSpPr>
        <p:spPr>
          <a:xfrm>
            <a:off x="609600" y="5969000"/>
            <a:ext cx="10414000" cy="5842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This is the core decision slide. If leadership wants the lowest cost, Option 3 is the answer. If leadership wants the most conservative 12-month operating plan, Option 1 is the answer.</a:t>
            </a:r>
          </a:p>
        </p:txBody>
      </p:sp>
    </p:spTree>
    <p:extLst>
      <p:ext uri="{BB962C8B-B14F-4D97-AF65-F5344CB8AC3E}">
        <p14:creationId xmlns:p14="http://schemas.microsoft.com/office/powerpoint/2010/main" val="141558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5B7A61-E93D-493B-061A-B4EBF141AB7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99DE6-23F7-D33F-F5B9-78EF3344B9D9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Why Option 1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A9FDD-4930-6BCD-75E4-069900F50FE7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Cleanest operational setup.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Sparta demand is separated onto a dedicated OSV.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Lower schedule congestion and easier recovery after disruption.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Only Mars requires an EV date adjustment.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04D7F-09BE-716E-8FDD-D79D93618440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Option 1 reduces operational complexity by absorbing Sparta with dedicated capacity. The tradeoff is straightforward: reliability improves, but cost increases materially.</a:t>
            </a:r>
          </a:p>
        </p:txBody>
      </p:sp>
    </p:spTree>
    <p:extLst>
      <p:ext uri="{BB962C8B-B14F-4D97-AF65-F5344CB8AC3E}">
        <p14:creationId xmlns:p14="http://schemas.microsoft.com/office/powerpoint/2010/main" val="19352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67F358-7417-F28E-1933-93852CDC484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E078A-AD91-8055-E597-62500809D98B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Why Option 2 Falls 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BA589-ECF6-67BE-7007-E6429226D811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Keeps all current EV dates unchanged.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Pulls too many FSVs out of the system at the same time.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Leaves too little flexibility to recover after delays.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Creates the highest fleet saturation of the options reviewed.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70238-D65A-2522-2A3D-E04C86CC1A58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Option 2 protects schedule dates, but it does so by consuming too much fleet flexibility. That makes it operationally fragile and not suitable for execution.</a:t>
            </a:r>
          </a:p>
        </p:txBody>
      </p:sp>
    </p:spTree>
    <p:extLst>
      <p:ext uri="{BB962C8B-B14F-4D97-AF65-F5344CB8AC3E}">
        <p14:creationId xmlns:p14="http://schemas.microsoft.com/office/powerpoint/2010/main" val="8599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8A97F3-FF1C-2E8C-4F8E-B7717A740BA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DC863-DF5F-8B51-EB69-B25AD7DE92E9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Why Option 3 Is Preferred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B633-26EF-4F1E-EB87-18B3D4D65F15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Lowest-cost workable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Maintains a 5-vessel pattern instead of expanding to 6 vessels.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Supports Sparta without committing to a full-time added OSV.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Best fit during normal weather months.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862D9-5E72-2C86-7833-98F2A0B047CD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Option 3 is preferred because it preserves cost discipline while still making the schedule work. Its weakness is not day-to-day execution in stable conditions, but recovery when fronts begin to disrupt the cycle.</a:t>
            </a:r>
          </a:p>
        </p:txBody>
      </p:sp>
    </p:spTree>
    <p:extLst>
      <p:ext uri="{BB962C8B-B14F-4D97-AF65-F5344CB8AC3E}">
        <p14:creationId xmlns:p14="http://schemas.microsoft.com/office/powerpoint/2010/main" val="113474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021974-7BB5-882E-4880-BFCA3F57106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EBFC4-C9E7-E4E6-A326-A12301D5552A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Key Risk in Option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11517-0005-CF71-412F-EA7CB17E85BC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Recovery windows become tighter once fronts begin.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Existing vessels absorb more of the workload.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A missed run can cascade more easily into the next cycle.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Sparta, Auger, and ESA rotation becomes more sensitive to disruption.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919F5-AD9F-C877-6BE8-06F38E5FA543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The right way to present Option 3 is not as a perfect year-round solution. It is the best base plan, but it needs a defined escalation path once weather risk rises.</a:t>
            </a:r>
          </a:p>
        </p:txBody>
      </p:sp>
    </p:spTree>
    <p:extLst>
      <p:ext uri="{BB962C8B-B14F-4D97-AF65-F5344CB8AC3E}">
        <p14:creationId xmlns:p14="http://schemas.microsoft.com/office/powerpoint/2010/main" val="4199594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423FB-3829-4FAC-4C32-9DEEDFB8DC3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7C008-4FD7-2599-901C-9C7CD88F805A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Proposed Trigger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784CF-B906-FFA5-5DB7-F7393F6C4DCE}"/>
              </a:ext>
            </a:extLst>
          </p:cNvPr>
          <p:cNvSpPr txBox="1"/>
          <p:nvPr/>
        </p:nvSpPr>
        <p:spPr>
          <a:xfrm>
            <a:off x="609600" y="1397000"/>
            <a:ext cx="10414000" cy="178510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One missed Sparta fuel or diesel delivery window.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Two consecutive weather-driven EV schedule slips.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Failure to recover Glenn or the swing FSV back to planned port timing within one cycle.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Repeated weather disruption affecting Sparta, Auger, or ESA rotation.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21E3D-EDC5-D6D1-3817-072124B8ED68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These triggers give management a clear operational threshold for when the cost of supplemental OSV support becomes justified.</a:t>
            </a:r>
          </a:p>
        </p:txBody>
      </p:sp>
    </p:spTree>
    <p:extLst>
      <p:ext uri="{BB962C8B-B14F-4D97-AF65-F5344CB8AC3E}">
        <p14:creationId xmlns:p14="http://schemas.microsoft.com/office/powerpoint/2010/main" val="368192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569276-1672-13F7-B740-A3724F3A5E1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823CA4-5243-E0BA-8611-494A3E5332B7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Recommended Decision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C9C0-44D5-C815-B6F0-0A50A792300A}"/>
              </a:ext>
            </a:extLst>
          </p:cNvPr>
          <p:cNvSpPr txBox="1"/>
          <p:nvPr/>
        </p:nvSpPr>
        <p:spPr>
          <a:xfrm>
            <a:off x="609600" y="1397000"/>
            <a:ext cx="10414000" cy="14465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Approve Option 3 as the primary Sparta support strategy during stable months.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Pre-align on supplemental OSV support during fronts season or if trigger conditions are met.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Reject Option 2 as a non-viable operating plan.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E10573-175C-7A9A-4D24-A31AEC8C3D27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This closes the discussion with a practical recommendation: preserve cost discipline by default, but do not wait too long to escalate if reliability begins to slip.</a:t>
            </a:r>
          </a:p>
        </p:txBody>
      </p:sp>
    </p:spTree>
    <p:extLst>
      <p:ext uri="{BB962C8B-B14F-4D97-AF65-F5344CB8AC3E}">
        <p14:creationId xmlns:p14="http://schemas.microsoft.com/office/powerpoint/2010/main" val="339755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DD512C-B178-B127-687C-72BAEB87034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F3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781AF-F148-BA29-720E-DA7FBC1342FB}"/>
              </a:ext>
            </a:extLst>
          </p:cNvPr>
          <p:cNvSpPr txBox="1"/>
          <p:nvPr/>
        </p:nvSpPr>
        <p:spPr>
          <a:xfrm>
            <a:off x="457200" y="2286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ECF3F7"/>
                </a:solidFill>
                <a:latin typeface="Aptos Display" panose="020B0004020202020204" pitchFamily="34" charset="0"/>
              </a:rPr>
              <a:t>Closing Message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409E3-7019-00AB-B398-249CC0E466FE}"/>
              </a:ext>
            </a:extLst>
          </p:cNvPr>
          <p:cNvSpPr txBox="1"/>
          <p:nvPr/>
        </p:nvSpPr>
        <p:spPr>
          <a:xfrm>
            <a:off x="609600" y="1397000"/>
            <a:ext cx="10414000" cy="110799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no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Option 3 is the best base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Option 1 is the best contingency strategy.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200">
                <a:solidFill>
                  <a:srgbClr val="242A2E"/>
                </a:solidFill>
                <a:latin typeface="Aptos" panose="020B0004020202020204" pitchFamily="34" charset="0"/>
              </a:rPr>
              <a:t>The decision should be made now with trigger-based escalation agreed in advance.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04255-288A-E58E-8EBB-A553CD71F574}"/>
              </a:ext>
            </a:extLst>
          </p:cNvPr>
          <p:cNvSpPr/>
          <p:nvPr/>
        </p:nvSpPr>
        <p:spPr>
          <a:xfrm>
            <a:off x="609600" y="5867400"/>
            <a:ext cx="10414000" cy="685800"/>
          </a:xfrm>
          <a:prstGeom prst="rect">
            <a:avLst/>
          </a:prstGeom>
          <a:solidFill>
            <a:srgbClr val="D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2F4A5A"/>
                </a:solidFill>
                <a:latin typeface="Aptos" panose="020B0004020202020204" pitchFamily="34" charset="0"/>
              </a:rPr>
              <a:t>Speaker notes: This is the balanced message for leadership: lowest-cost execution with a clear backup plan, rather than choosing between cost and reliability as if they are mutually exclusive.</a:t>
            </a:r>
          </a:p>
        </p:txBody>
      </p:sp>
    </p:spTree>
    <p:extLst>
      <p:ext uri="{BB962C8B-B14F-4D97-AF65-F5344CB8AC3E}">
        <p14:creationId xmlns:p14="http://schemas.microsoft.com/office/powerpoint/2010/main" val="16156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</Words>
  <Application>Microsoft Office PowerPoint</Application>
  <PresentationFormat>On-screen Show (16:9)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Coyle, Christopher F SEPCO-PTC/U/DDL</dc:creator>
  <cp:lastModifiedBy>Coyle, Christopher F SEPCO-PTC/U/DDL</cp:lastModifiedBy>
  <cp:revision>1</cp:revision>
  <dcterms:created xsi:type="dcterms:W3CDTF">2026-04-29T17:40:44Z</dcterms:created>
  <dcterms:modified xsi:type="dcterms:W3CDTF">2026-04-29T17:40:44Z</dcterms:modified>
</cp:coreProperties>
</file>