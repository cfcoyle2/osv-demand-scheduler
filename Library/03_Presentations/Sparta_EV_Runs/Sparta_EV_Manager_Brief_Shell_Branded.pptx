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D006F1-B61C-4E6C-B74B-51636A518B4D}" v="4" dt="2026-05-05T14:20:08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20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yle, Christopher F SEPCO-PTC/U/DDL" userId="49e1d7c3-ee9f-4584-b330-6608545b4327" providerId="ADAL" clId="{79E8C215-C961-4664-B806-6092F71DE21A}"/>
    <pc:docChg chg="modSld">
      <pc:chgData name="Coyle, Christopher F SEPCO-PTC/U/DDL" userId="49e1d7c3-ee9f-4584-b330-6608545b4327" providerId="ADAL" clId="{79E8C215-C961-4664-B806-6092F71DE21A}" dt="2026-05-05T14:20:08.539" v="11" actId="14100"/>
      <pc:docMkLst>
        <pc:docMk/>
      </pc:docMkLst>
      <pc:sldChg chg="modSp">
        <pc:chgData name="Coyle, Christopher F SEPCO-PTC/U/DDL" userId="49e1d7c3-ee9f-4584-b330-6608545b4327" providerId="ADAL" clId="{79E8C215-C961-4664-B806-6092F71DE21A}" dt="2026-05-05T14:18:18.049" v="2" actId="14100"/>
        <pc:sldMkLst>
          <pc:docMk/>
          <pc:sldMk cId="1485527579" sldId="256"/>
        </pc:sldMkLst>
        <pc:spChg chg="mod">
          <ac:chgData name="Coyle, Christopher F SEPCO-PTC/U/DDL" userId="49e1d7c3-ee9f-4584-b330-6608545b4327" providerId="ADAL" clId="{79E8C215-C961-4664-B806-6092F71DE21A}" dt="2026-05-05T14:18:08.920" v="0" actId="14100"/>
          <ac:spMkLst>
            <pc:docMk/>
            <pc:sldMk cId="1485527579" sldId="256"/>
            <ac:spMk id="2" creationId="{676B79E8-49FE-7D5B-2FF2-4EBA1EEB3376}"/>
          </ac:spMkLst>
        </pc:spChg>
        <pc:spChg chg="mod">
          <ac:chgData name="Coyle, Christopher F SEPCO-PTC/U/DDL" userId="49e1d7c3-ee9f-4584-b330-6608545b4327" providerId="ADAL" clId="{79E8C215-C961-4664-B806-6092F71DE21A}" dt="2026-05-05T14:18:18.049" v="2" actId="14100"/>
          <ac:spMkLst>
            <pc:docMk/>
            <pc:sldMk cId="1485527579" sldId="256"/>
            <ac:spMk id="3" creationId="{911155F2-221D-5710-DEEB-A7874B75F2EB}"/>
          </ac:spMkLst>
        </pc:spChg>
        <pc:spChg chg="mod">
          <ac:chgData name="Coyle, Christopher F SEPCO-PTC/U/DDL" userId="49e1d7c3-ee9f-4584-b330-6608545b4327" providerId="ADAL" clId="{79E8C215-C961-4664-B806-6092F71DE21A}" dt="2026-05-05T14:18:14.443" v="1" actId="1076"/>
          <ac:spMkLst>
            <pc:docMk/>
            <pc:sldMk cId="1485527579" sldId="256"/>
            <ac:spMk id="5" creationId="{C6580640-6E38-2DA6-B98A-F8471D447C62}"/>
          </ac:spMkLst>
        </pc:spChg>
      </pc:sldChg>
      <pc:sldChg chg="modSp mod">
        <pc:chgData name="Coyle, Christopher F SEPCO-PTC/U/DDL" userId="49e1d7c3-ee9f-4584-b330-6608545b4327" providerId="ADAL" clId="{79E8C215-C961-4664-B806-6092F71DE21A}" dt="2026-05-05T14:20:08.539" v="11" actId="14100"/>
        <pc:sldMkLst>
          <pc:docMk/>
          <pc:sldMk cId="981033998" sldId="261"/>
        </pc:sldMkLst>
        <pc:spChg chg="mod">
          <ac:chgData name="Coyle, Christopher F SEPCO-PTC/U/DDL" userId="49e1d7c3-ee9f-4584-b330-6608545b4327" providerId="ADAL" clId="{79E8C215-C961-4664-B806-6092F71DE21A}" dt="2026-05-05T14:20:08.539" v="11" actId="14100"/>
          <ac:spMkLst>
            <pc:docMk/>
            <pc:sldMk cId="981033998" sldId="261"/>
            <ac:spMk id="2" creationId="{F60BE354-FE45-C06C-A96F-933B50254541}"/>
          </ac:spMkLst>
        </pc:spChg>
        <pc:spChg chg="mod">
          <ac:chgData name="Coyle, Christopher F SEPCO-PTC/U/DDL" userId="49e1d7c3-ee9f-4584-b330-6608545b4327" providerId="ADAL" clId="{79E8C215-C961-4664-B806-6092F71DE21A}" dt="2026-05-05T14:20:08.539" v="11" actId="14100"/>
          <ac:spMkLst>
            <pc:docMk/>
            <pc:sldMk cId="981033998" sldId="261"/>
            <ac:spMk id="5" creationId="{A296A800-E486-AAB0-504B-D0428C2C1441}"/>
          </ac:spMkLst>
        </pc:spChg>
        <pc:graphicFrameChg chg="mod modGraphic">
          <ac:chgData name="Coyle, Christopher F SEPCO-PTC/U/DDL" userId="49e1d7c3-ee9f-4584-b330-6608545b4327" providerId="ADAL" clId="{79E8C215-C961-4664-B806-6092F71DE21A}" dt="2026-05-05T14:18:47.784" v="9" actId="14100"/>
          <ac:graphicFrameMkLst>
            <pc:docMk/>
            <pc:sldMk cId="981033998" sldId="261"/>
            <ac:graphicFrameMk id="6" creationId="{1714F116-BC91-35BF-9B64-4F74AF123D13}"/>
          </ac:graphicFrameMkLst>
        </pc:graphicFrameChg>
      </pc:sldChg>
      <pc:sldChg chg="modSp mod">
        <pc:chgData name="Coyle, Christopher F SEPCO-PTC/U/DDL" userId="49e1d7c3-ee9f-4584-b330-6608545b4327" providerId="ADAL" clId="{79E8C215-C961-4664-B806-6092F71DE21A}" dt="2026-05-05T14:19:33.724" v="10" actId="14100"/>
        <pc:sldMkLst>
          <pc:docMk/>
          <pc:sldMk cId="338433219" sldId="267"/>
        </pc:sldMkLst>
        <pc:spChg chg="mod">
          <ac:chgData name="Coyle, Christopher F SEPCO-PTC/U/DDL" userId="49e1d7c3-ee9f-4584-b330-6608545b4327" providerId="ADAL" clId="{79E8C215-C961-4664-B806-6092F71DE21A}" dt="2026-05-05T14:19:33.724" v="10" actId="14100"/>
          <ac:spMkLst>
            <pc:docMk/>
            <pc:sldMk cId="338433219" sldId="267"/>
            <ac:spMk id="6" creationId="{903FD919-A411-91BF-7E19-F68880B8CC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BF2E-F4C5-D602-5964-48CF2362C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DEDBB-66B2-9D0C-4FE9-C1D352400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2F6A-2E17-A375-E3B3-BC890F23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D2E-A16A-F313-81AF-D77D1428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EFADE-BA12-0243-FD5F-207F6CFE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00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4EBB-6982-833D-580F-FF7A4050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8144D-C761-A446-6C39-8272BD458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C6B2-FEB0-5246-C0A9-91CEF3B9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B965C-E351-E7D5-DEE0-8F86D88A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FE87B-2AD7-B0FA-6230-CC58240B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99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A19B-0EDE-3EAF-449B-7C9F898E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73465-E5F0-2C43-7E68-10B4989B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8ED7-57C5-3388-C2EC-C80873B9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F70DE-0E8A-1983-D653-E4219EDE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89848-4B83-55C2-1FFA-260432E4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9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D002-4CE9-117D-DE8C-11AB6A39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2185D-1A37-3D6F-A679-44C9CFCEC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7D8EB-3283-031D-E1B6-889A4D1AC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C37DC-E9E5-769F-41F1-1D6A9DCF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3FE40-6FAF-FD42-E2AB-1CCF8A2B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5912-CEE2-184E-E1E7-7196A072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54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8B78-8399-937D-05F1-7EBA4BE9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63A17-83F8-8AC3-2E02-AD19655A2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70B94-6B0C-7FBC-8217-2AA58740B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F52B4-4862-6619-A7B6-BECF0D160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C2005-0850-7668-7AE3-64DBB5CA1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C0808-2B02-1391-68E0-7918AB47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6EA77-4D11-7B92-4E1E-A4EF0888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81CD2B-C111-EB4A-8ECF-1DD04A71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8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BDE6-E1D9-DC23-DDDD-6BAEDD296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42478-1B2B-6ED5-5844-7176DA5F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93982-A029-E5E0-F8EF-B64671C5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CC0C9-D16D-9824-5CE1-EDCAD51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76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0E063-C659-51F5-08AD-E2F08C7F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B04F-0757-6837-B3A6-A1341AC0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7144F-930F-84CF-C7B0-DC79E4B1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28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2EF3-95DA-A45D-07B4-41932EFF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6FA9-51A1-D0ED-C963-C431B948A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C11AD-AC06-DCB3-5B29-961556D63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631AD-8000-3F61-453A-FA49BFD2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7BAA1-6EF1-7E23-A964-BEB23D0D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150EA-9988-E25D-4042-8F0C08E8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60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9257-C842-4B61-6B0E-B4A2E953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AB52F-9FA7-6951-9D6E-BCF11994E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2DD5A-F392-E90D-CBC7-2665FF5B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F5FE6-7E25-B2F3-1208-B1FF7531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46409-D498-2FC2-8AFB-46E60126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F08BB-56EB-123E-681A-5B39CB32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81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4ED5-04E1-6E9C-EABA-28F0BABE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DCCAF-89C1-14DB-AFCF-DA566EC85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A1D61-8A13-29F8-0A43-62E3D124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73553-9E68-768B-6F3A-CA954848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742EB-70FB-643E-9F0F-50A59E7A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22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9DEF4-0623-AE9F-4DE7-6F583597D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50685-3059-7857-5672-22E1102FA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818A-8DDE-A445-C332-EB6CC637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B1F19-406E-88A5-F5DF-16E5C243E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69BAA-3750-55EA-2D0E-B17BC92E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33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13221-4FF2-6C40-C3B0-18D42741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6A9B3-7C8D-2130-3B85-0C73778ED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C29DB-26B0-369E-9D60-5D68692B7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CBDBF-98C2-4934-AACA-E0F4BC15751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1A5D8-7759-DE29-C71E-C156B0913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23F3-2955-6B4B-547E-C4BA8D934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6BDC5-4B1B-49B2-8A15-B0161BBF3F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0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6B79E8-49FE-7D5B-2FF2-4EBA1EEB3376}"/>
              </a:ext>
            </a:extLst>
          </p:cNvPr>
          <p:cNvSpPr/>
          <p:nvPr/>
        </p:nvSpPr>
        <p:spPr>
          <a:xfrm>
            <a:off x="0" y="0"/>
            <a:ext cx="9144000" cy="10922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155F2-221D-5710-DEEB-A7874B75F2EB}"/>
              </a:ext>
            </a:extLst>
          </p:cNvPr>
          <p:cNvSpPr/>
          <p:nvPr/>
        </p:nvSpPr>
        <p:spPr>
          <a:xfrm>
            <a:off x="0" y="1092200"/>
            <a:ext cx="9144000" cy="2286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433D5-4815-72F8-AD58-B14FF86A1F4D}"/>
              </a:ext>
            </a:extLst>
          </p:cNvPr>
          <p:cNvSpPr/>
          <p:nvPr/>
        </p:nvSpPr>
        <p:spPr>
          <a:xfrm>
            <a:off x="711200" y="1854200"/>
            <a:ext cx="177800" cy="27940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80640-6E38-2DA6-B98A-F8471D447C62}"/>
              </a:ext>
            </a:extLst>
          </p:cNvPr>
          <p:cNvSpPr/>
          <p:nvPr/>
        </p:nvSpPr>
        <p:spPr>
          <a:xfrm>
            <a:off x="127000" y="46454"/>
            <a:ext cx="1524000" cy="3810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 dirty="0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C3002-5077-64C9-165A-AF93536A9560}"/>
              </a:ext>
            </a:extLst>
          </p:cNvPr>
          <p:cNvSpPr txBox="1"/>
          <p:nvPr/>
        </p:nvSpPr>
        <p:spPr>
          <a:xfrm>
            <a:off x="1117600" y="1828800"/>
            <a:ext cx="965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112B45"/>
                </a:solidFill>
                <a:latin typeface="Aptos Display" panose="020B0004020202020204" pitchFamily="34" charset="0"/>
              </a:rPr>
              <a:t>Sparta EV Run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8C376-77D4-C8A5-9E6B-CC03C4C44D92}"/>
              </a:ext>
            </a:extLst>
          </p:cNvPr>
          <p:cNvSpPr txBox="1"/>
          <p:nvPr/>
        </p:nvSpPr>
        <p:spPr>
          <a:xfrm>
            <a:off x="1117600" y="2717800"/>
            <a:ext cx="965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1F2933"/>
                </a:solidFill>
                <a:latin typeface="Aptos" panose="020B0004020202020204" pitchFamily="34" charset="0"/>
              </a:rPr>
              <a:t>Supporting Sparta demand while minimizing logistics operating cost</a:t>
            </a:r>
            <a:endParaRPr lang="en-GB" sz="20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3CFBF-4ECB-0E5B-C314-0A91FC9D75E0}"/>
              </a:ext>
            </a:extLst>
          </p:cNvPr>
          <p:cNvSpPr txBox="1"/>
          <p:nvPr/>
        </p:nvSpPr>
        <p:spPr>
          <a:xfrm>
            <a:off x="1117600" y="5283200"/>
            <a:ext cx="533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DD1D21"/>
                </a:solidFill>
                <a:latin typeface="Aptos" panose="020B0004020202020204" pitchFamily="34" charset="0"/>
              </a:rPr>
              <a:t>Prepared for: Logistics Delivery Manager</a:t>
            </a:r>
            <a:endParaRPr lang="en-GB" sz="1600">
              <a:solidFill>
                <a:srgbClr val="DD1D21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67520E-FC19-D402-5796-907E3B1483C8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9B8B7A-21E9-54CD-8774-D13E2347ECE3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148552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5A0C37-5470-AB74-EB0D-CB56213E1CAA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8456A-D1C3-E9C5-A79E-ED6574965CED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999BD-E81B-7B57-A980-A60662DE540B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Decision to Make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2FF16-B282-8411-6476-CDDFC9F7C925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183F0-6255-CBE1-50A7-4C5496775DDF}"/>
              </a:ext>
            </a:extLst>
          </p:cNvPr>
          <p:cNvSpPr txBox="1"/>
          <p:nvPr/>
        </p:nvSpPr>
        <p:spPr>
          <a:xfrm>
            <a:off x="609600" y="1346200"/>
            <a:ext cx="10668000" cy="110799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Select the most practical EV run strategy to support Sparta demand.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Minimize logistics operating cost while preserving execution reliability.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Prefer an existing-fleet solution over adding a dedicated OSV.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1EB5F-522C-7FDB-43B0-32E70B403730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This decision is about finding the best operating model for Sparta without structurally increasing cost unless reliability demands it.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93E8C-7602-0DDA-F277-E3AF4B427B1A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4E474F-531F-5C61-25B5-34360E7163C9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233250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6642ED-D971-18A9-CDAF-757C5A232B8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855D68-B01E-6EFD-95DA-58D301D6CFAC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80AC6-64BE-B5C7-3FF8-3789D91A90F9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Business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D83D38-B462-431A-EEDA-A5570B15A1B4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4E57D-EBB1-26E8-E026-DE715820C135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Sparta introduces new diesel and logistics demand into the EV run system.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FSV all-in run cost is about $25k/day.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OSV all-in run cost is about $80k/day.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Objective: absorb demand with the current fleet wherever feasible.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66E4CE-A648-98E6-9A9B-EA30B52CFF9A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The cost gap between FSV and OSV is the key economic driver. Any solution that adds a permanent OSV must provide a clear reliability benefit to justify the spend.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016007-FAA0-B33F-C217-CD875DDC2117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9A0BC-1F2D-E9F2-8B67-BA100F3A9D71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380694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84136F-8EFC-F43E-AEEE-228DFA8BA10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1BD4D-B5DF-2EB7-F0F2-7F75B2A4BA96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6AB78-009B-EEA2-8E39-FF0FC5A1FDB5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Options Evaluated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E521A2-1522-07F9-2392-23ABE8B7E286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B768-7663-ADCA-4448-75631C7C755B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Current State: baseline only, does not support Sparta demand.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Option 1: 12-month solution with added OSV; Mars EV dates shift.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Option 2: no asset moved off current EV schedule.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Option 3: best fit for about 8 months; higher weather recovery risk.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D20E8-F2FA-2FB3-6575-3F8833EC83FF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The analysis compares cost, fleet saturation, and schedule recoverability. The main question is where to trade off cost versus resilience.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495D9-0A4A-C585-9AF5-D17A14AFA8DA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3DFF3-EAD2-02BD-AA12-DC654C451990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1802027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EBB2EC-211D-9307-B620-1517E84DDA9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22A5BD-0523-DE9F-CC0E-161E2122CE08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93A0D-B0D9-7169-666D-40BDBC601DA2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Executive Recommendation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AF30B-95EA-8920-72D8-7D97EC43FF2D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7BE4B-8396-6F57-F1CF-0C53667B74EE}"/>
              </a:ext>
            </a:extLst>
          </p:cNvPr>
          <p:cNvSpPr txBox="1"/>
          <p:nvPr/>
        </p:nvSpPr>
        <p:spPr>
          <a:xfrm>
            <a:off x="609600" y="1346200"/>
            <a:ext cx="10668000" cy="110799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Use Option 3 as the base strategy during stable operating months.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Keep Option 1 as the contingency for fronts season or repeat recovery failures.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Do not pursue Option 2.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EAF96-8FC8-2FCF-8E4B-61ED83FBF7BF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Option 3 is the lowest-cost workable plan. Option 1 remains the lowest-risk backup if weather or recovery performance degrades.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AD1A8-B3A3-0788-CC7C-7085AC090EED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8E7AC-C246-2C25-5CE8-280349FBA92F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76038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0BE354-FE45-C06C-A96F-933B50254541}"/>
              </a:ext>
            </a:extLst>
          </p:cNvPr>
          <p:cNvSpPr/>
          <p:nvPr/>
        </p:nvSpPr>
        <p:spPr>
          <a:xfrm>
            <a:off x="0" y="0"/>
            <a:ext cx="9144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CC962A-5F50-0BEB-D581-BCD83C70A903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A018C-4140-352B-1E7D-816F7F1C57DA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Option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6A800-E486-AAB0-504B-D0428C2C1441}"/>
              </a:ext>
            </a:extLst>
          </p:cNvPr>
          <p:cNvSpPr/>
          <p:nvPr/>
        </p:nvSpPr>
        <p:spPr>
          <a:xfrm>
            <a:off x="10287000" y="228600"/>
            <a:ext cx="10668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14F116-BC91-35BF-9B64-4F74AF123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961443"/>
              </p:ext>
            </p:extLst>
          </p:nvPr>
        </p:nvGraphicFramePr>
        <p:xfrm>
          <a:off x="0" y="825500"/>
          <a:ext cx="9144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142">
                  <a:extLst>
                    <a:ext uri="{9D8B030D-6E8A-4147-A177-3AD203B41FA5}">
                      <a16:colId xmlns:a16="http://schemas.microsoft.com/office/drawing/2014/main" val="76702943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52581760"/>
                    </a:ext>
                  </a:extLst>
                </a:gridCol>
                <a:gridCol w="2775857">
                  <a:extLst>
                    <a:ext uri="{9D8B030D-6E8A-4147-A177-3AD203B41FA5}">
                      <a16:colId xmlns:a16="http://schemas.microsoft.com/office/drawing/2014/main" val="183787825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1640344039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7D6"/>
                          </a:solidFill>
                          <a:latin typeface="Aptos" panose="020B0004020202020204" pitchFamily="34" charset="0"/>
                        </a:rPr>
                        <a:t>Option</a:t>
                      </a:r>
                    </a:p>
                  </a:txBody>
                  <a:tcPr>
                    <a:solidFill>
                      <a:srgbClr val="DD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7D6"/>
                          </a:solidFill>
                          <a:latin typeface="Aptos" panose="020B0004020202020204" pitchFamily="34" charset="0"/>
                        </a:rPr>
                        <a:t>Pros</a:t>
                      </a:r>
                    </a:p>
                  </a:txBody>
                  <a:tcPr>
                    <a:solidFill>
                      <a:srgbClr val="DD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7D6"/>
                          </a:solidFill>
                          <a:latin typeface="Aptos" panose="020B0004020202020204" pitchFamily="34" charset="0"/>
                        </a:rPr>
                        <a:t>Cons</a:t>
                      </a:r>
                    </a:p>
                  </a:txBody>
                  <a:tcPr>
                    <a:solidFill>
                      <a:srgbClr val="DD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7D6"/>
                          </a:solidFill>
                          <a:latin typeface="Aptos" panose="020B0004020202020204" pitchFamily="34" charset="0"/>
                        </a:rPr>
                        <a:t>Takeaway</a:t>
                      </a:r>
                    </a:p>
                  </a:txBody>
                  <a:tcPr>
                    <a:solidFill>
                      <a:srgbClr val="DD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92429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Current State</a:t>
                      </a:r>
                    </a:p>
                  </a:txBody>
                  <a:tcPr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Established operating rhythm. Existing vessel pattern is familiar.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Does not support Sparta demand.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Baseline only.</a:t>
                      </a:r>
                    </a:p>
                  </a:txBody>
                  <a:tcPr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45378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Option 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Most stable operating model. Dedicated OSV for Sparta. Only Mars requires EV date change. Better recovery after delays.</a:t>
                      </a:r>
                      <a:endParaRPr lang="en-GB" sz="1100" dirty="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Highest cost due to added OSV. Does not meet the goal of using the existing fleet.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Best reliability, weakest cost efficiency.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2300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Option 2</a:t>
                      </a:r>
                    </a:p>
                  </a:txBody>
                  <a:tcPr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Keeps current EV dates unchanged.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Overcommits FSV capacity. Too many vessels committed at once. Limited recovery flexibility.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Not recommended.</a:t>
                      </a:r>
                    </a:p>
                  </a:txBody>
                  <a:tcPr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62908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Option 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Best cost and operability balance for most of the year. Avoids full-time added OSV. Keeps fleet count closer to current state.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Tighter recovery margin. Higher exposure to fronts and weather disruption.</a:t>
                      </a:r>
                      <a:endParaRPr lang="en-GB" sz="110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Best base strategy if paired with clear contingency triggers.</a:t>
                      </a:r>
                      <a:endParaRPr lang="en-GB" sz="1100" dirty="0">
                        <a:solidFill>
                          <a:srgbClr val="1F2933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3052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7216760-6DCC-F843-A7FC-DDA3A2CC77E9}"/>
              </a:ext>
            </a:extLst>
          </p:cNvPr>
          <p:cNvSpPr/>
          <p:nvPr/>
        </p:nvSpPr>
        <p:spPr>
          <a:xfrm>
            <a:off x="609600" y="5969000"/>
            <a:ext cx="10414000" cy="5842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This is the core decision slide. If leadership wants the lowest cost, Option 3 is the answer. If leadership wants the most conservative 12-month operating plan, Option 1 is the answer.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134-11F3-D79D-6CC9-6C3214DDA468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69029-02EC-4E39-CD40-363B46DC4B5E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98103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DEC52E-3109-FEFE-800E-3B16A370B98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183382-4907-C455-1188-D8495074F8E4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18A98-5A4F-BE0A-D7D2-B7ED3F685186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Why Option 1 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16A69-0564-B046-DDFC-E5D12A0CD715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E0ECA-70D4-38DD-D3D2-99BA4DFC6BC8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Cleanest operational setup.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Sparta demand is separated onto a dedicated OSV.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Lower schedule congestion and easier recovery after disruption.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Only Mars requires an EV date adjustment.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F4772-4067-F33F-1D04-765B3C7294D7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Option 1 reduces operational complexity by absorbing Sparta with dedicated capacity. The tradeoff is straightforward: reliability improves, but cost increases materially.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B2EBF8-7C6C-A8B9-BE20-63232052D6AC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A1AED-6D0A-9C19-F014-55FC476712F4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125851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7F7E4-D518-05BC-5005-EAA0BA39D68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549D5-BF99-49A4-7DB1-FC79F1566675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7E1AF-0563-232A-40E2-1B623CC50A01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112B45"/>
                </a:solidFill>
                <a:latin typeface="Aptos Display" panose="020B0004020202020204" pitchFamily="34" charset="0"/>
              </a:rPr>
              <a:t>Why Option 2 Falls Out</a:t>
            </a:r>
            <a:endParaRPr lang="en-GB" sz="2400" b="1">
              <a:solidFill>
                <a:srgbClr val="112B45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FC6704-6CE3-418A-FA87-3B866F52362B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191E7-5E6E-2060-A78D-F7E06D091A08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Keeps all current EV dates unchanged.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Pulls too many FSVs out of the system at the same time.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Leaves too little flexibility to recover after delays.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Creates the highest fleet saturation of the options reviewed.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36812-1A83-652F-6398-13BBABB08958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Option 2 protects schedule dates, but it does so by consuming too much fleet flexibility. That makes it operationally fragile and not suitable for execution.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66AF79-654D-CEF4-3FFB-9D2C7C75B5CB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B9140-EDB0-D96A-A0DF-CA8B5080ADB5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304114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BF095-7300-3135-7254-2FB90F0143A2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7EDB7-A2C7-3947-5497-1F19FF39BA16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E48F8-98B4-1374-7835-5B522716EA55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112B45"/>
                </a:solidFill>
                <a:latin typeface="Aptos Display" panose="020B0004020202020204" pitchFamily="34" charset="0"/>
              </a:rPr>
              <a:t>Why Option 3 Is Preferred</a:t>
            </a:r>
            <a:endParaRPr lang="en-GB" sz="2400" b="1">
              <a:solidFill>
                <a:srgbClr val="112B45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11FFC-F9D3-FBDB-3ECB-35651ACB04B0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FD4E7-8C20-A2E3-44E8-E664BE6CF1B3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Lowest-cost workable strategy.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Maintains a 5-vessel pattern instead of expanding to 6 vessels.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Supports Sparta without committing to a full-time added OSV.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Best fit during normal weather months.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F919CE-2E1E-2121-A63A-0356EEA505E6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Option 3 is preferred because it preserves cost discipline while still making the schedule work. Its weakness is not day-to-day execution in stable conditions, but recovery when fronts begin to disrupt the cycle.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CE9D3A-3057-10DA-287E-8BB72B5C1BC0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24321-3B29-6CCB-971B-0CD13E091A75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2731785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C1A590-0ED6-6428-047C-2F00073C64F2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4B75D-43C6-8D52-AEF5-F87AF7DB6726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DDB78-D88A-22F2-009E-9A135F1A076A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112B45"/>
                </a:solidFill>
                <a:latin typeface="Aptos Display" panose="020B0004020202020204" pitchFamily="34" charset="0"/>
              </a:rPr>
              <a:t>Key Risk in Option 3</a:t>
            </a:r>
            <a:endParaRPr lang="en-GB" sz="2400" b="1">
              <a:solidFill>
                <a:srgbClr val="112B45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D0A10-DE81-1496-F25A-A561CCC0F032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DA8C7-0FF2-8078-B1DC-C2C61960D566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Recovery windows become tighter once fronts begin.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Existing vessels absorb more of the workload.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A missed run can cascade more easily into the next cycle.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Sparta, Auger, and ESA rotation becomes more sensitive to disruption.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40E20-910F-2102-9AFA-5A201234AF9B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The right way to present Option 3 is not as a perfect year-round solution. It is the best base plan, but it needs a defined escalation path once weather risk rises.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DE4E79-A13D-871C-16A5-DC7851FAF2E6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9A1C7-AB92-2363-F329-DF53F8517AFB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33780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C8055B-744B-FC8D-6D59-366FA8408D3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DA12CB-E1AF-71A6-37ED-298F670FECA0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0DF47-59C8-6638-7FE3-32328ED7E297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Proposed Trigger Points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D9A9F-64A5-0A09-163D-CA6B1697D7E0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26F1D-A323-FCB4-5BFB-D23AD420BD5D}"/>
              </a:ext>
            </a:extLst>
          </p:cNvPr>
          <p:cNvSpPr txBox="1"/>
          <p:nvPr/>
        </p:nvSpPr>
        <p:spPr>
          <a:xfrm>
            <a:off x="609600" y="1346200"/>
            <a:ext cx="10668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One missed Sparta fuel or diesel delivery window.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Two consecutive weather-driven EV schedule slips.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Failure to recover Glenn or the swing FSV back to planned port timing within one cycle.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Repeated weather disruption affecting Sparta, Auger, or ESA rotation.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7CD36-FC39-F562-AEB8-D70F0F48E513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These triggers give management a clear operational threshold for when the cost of supplemental OSV support becomes justified.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79C2F7-9A48-5566-5948-A0A99B23D83D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FFA46-C7D9-3D3B-A6C7-6B0B000C56D7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4015521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CA849-2CBB-EAB2-CDDB-EEA3BE81DF9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597083-D468-AEE0-DB1B-254AADBFF9BF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80968-3084-67ED-4A58-ED545C551B40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Recommended Decision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120E6-29BB-6ABB-A43C-56FDF909D3D1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FD919-A411-91BF-7E19-F68880B8CCC5}"/>
              </a:ext>
            </a:extLst>
          </p:cNvPr>
          <p:cNvSpPr txBox="1"/>
          <p:nvPr/>
        </p:nvSpPr>
        <p:spPr>
          <a:xfrm>
            <a:off x="609600" y="1346200"/>
            <a:ext cx="743585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 dirty="0">
                <a:solidFill>
                  <a:srgbClr val="1F2933"/>
                </a:solidFill>
                <a:latin typeface="Aptos" panose="020B0004020202020204" pitchFamily="34" charset="0"/>
              </a:rPr>
              <a:t>Approve Option 3 as the primary Sparta support strategy during stable months.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 dirty="0">
                <a:solidFill>
                  <a:srgbClr val="1F2933"/>
                </a:solidFill>
                <a:latin typeface="Aptos" panose="020B0004020202020204" pitchFamily="34" charset="0"/>
              </a:rPr>
              <a:t>Pre-align on supplemental OSV support during fronts season or if trigger conditions are met.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 dirty="0">
                <a:solidFill>
                  <a:srgbClr val="1F2933"/>
                </a:solidFill>
                <a:latin typeface="Aptos" panose="020B0004020202020204" pitchFamily="34" charset="0"/>
              </a:rPr>
              <a:t>Reject Option 2 as a non-viable operating plan.</a:t>
            </a:r>
            <a:endParaRPr lang="en-GB" sz="2200" dirty="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4B6B23-D2F8-CC30-BEF1-F5022F6AB69F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This closes the discussion with a practical recommendation: preserve cost discipline by default, but do not wait too long to escalate if reliability begins to slip.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C670D-C34A-F806-3765-0504A519D5AF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25B8D-A068-420C-C4B5-8F6D1CF9966C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338433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913430-19AC-72AA-AFE7-F8B16A622EE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BCE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9642CB-240A-1260-727C-18468ADE4D12}"/>
              </a:ext>
            </a:extLst>
          </p:cNvPr>
          <p:cNvSpPr/>
          <p:nvPr/>
        </p:nvSpPr>
        <p:spPr>
          <a:xfrm>
            <a:off x="0" y="812800"/>
            <a:ext cx="12192000" cy="101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26E65-8FB9-68F9-AA88-D7FC0C9CC5AD}"/>
              </a:ext>
            </a:extLst>
          </p:cNvPr>
          <p:cNvSpPr txBox="1"/>
          <p:nvPr/>
        </p:nvSpPr>
        <p:spPr>
          <a:xfrm>
            <a:off x="457200" y="2286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112B45"/>
                </a:solidFill>
                <a:latin typeface="Aptos Display" panose="020B0004020202020204" pitchFamily="34" charset="0"/>
              </a:rPr>
              <a:t>Closing Message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8B3BC-1663-4D63-32D5-A89C25E2DF5F}"/>
              </a:ext>
            </a:extLst>
          </p:cNvPr>
          <p:cNvSpPr/>
          <p:nvPr/>
        </p:nvSpPr>
        <p:spPr>
          <a:xfrm>
            <a:off x="10287000" y="228600"/>
            <a:ext cx="1422400" cy="355600"/>
          </a:xfrm>
          <a:prstGeom prst="rect">
            <a:avLst/>
          </a:prstGeom>
          <a:solidFill>
            <a:srgbClr val="DD1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50800" rtlCol="0" anchor="ctr"/>
          <a:lstStyle/>
          <a:p>
            <a:pPr algn="ctr"/>
            <a:r>
              <a:rPr lang="en-GB" sz="1200" b="1">
                <a:solidFill>
                  <a:srgbClr val="FFF7D6"/>
                </a:solidFill>
                <a:latin typeface="Aptos" panose="020B0004020202020204" pitchFamily="34" charset="0"/>
              </a:rPr>
              <a:t>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4EA14-3056-BF8F-6761-FDD39C2D9413}"/>
              </a:ext>
            </a:extLst>
          </p:cNvPr>
          <p:cNvSpPr txBox="1"/>
          <p:nvPr/>
        </p:nvSpPr>
        <p:spPr>
          <a:xfrm>
            <a:off x="609600" y="1346200"/>
            <a:ext cx="10668000" cy="110799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Option 3 is the best base strategy.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Option 1 is the best contingency strategy.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1F2933"/>
                </a:solidFill>
                <a:latin typeface="Aptos" panose="020B0004020202020204" pitchFamily="34" charset="0"/>
              </a:rPr>
              <a:t>The decision should be made now with trigger-based escalation agreed in advance.</a:t>
            </a:r>
            <a:endParaRPr lang="en-GB" sz="2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B3CEB-C63B-C216-B30D-2E3500F070A7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FFF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Speaker notes: This is the balanced message for leadership: lowest-cost execution with a clear backup plan, rather than choosing between cost and reliability as if they are mutually exclusive.</a:t>
            </a:r>
            <a:endParaRPr lang="en-GB" sz="1200">
              <a:solidFill>
                <a:srgbClr val="1F2933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CE788-DBBA-BD19-0E6B-36EE6B221C00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2B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D9C5F-6BEE-41EC-EA43-AD7ABC7B8319}"/>
              </a:ext>
            </a:extLst>
          </p:cNvPr>
          <p:cNvSpPr txBox="1"/>
          <p:nvPr/>
        </p:nvSpPr>
        <p:spPr>
          <a:xfrm>
            <a:off x="431800" y="6553200"/>
            <a:ext cx="533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FFF7D6"/>
                </a:solidFill>
                <a:latin typeface="Aptos" panose="020B0004020202020204" pitchFamily="34" charset="0"/>
              </a:rPr>
              <a:t>Shell GoA Supply Chain</a:t>
            </a:r>
          </a:p>
        </p:txBody>
      </p:sp>
    </p:spTree>
    <p:extLst>
      <p:ext uri="{BB962C8B-B14F-4D97-AF65-F5344CB8AC3E}">
        <p14:creationId xmlns:p14="http://schemas.microsoft.com/office/powerpoint/2010/main" val="272902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1052</Words>
  <Application>Microsoft Office PowerPoint</Application>
  <PresentationFormat>On-screen Show (16:9)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Coyle, Christopher F SEPCO-PTC/U/DDL</dc:creator>
  <cp:lastModifiedBy>Coyle, Christopher F SEPCO-PTC/U/DDL</cp:lastModifiedBy>
  <cp:revision>1</cp:revision>
  <dcterms:created xsi:type="dcterms:W3CDTF">2026-05-05T14:15:55Z</dcterms:created>
  <dcterms:modified xsi:type="dcterms:W3CDTF">2026-05-05T14:20:18Z</dcterms:modified>
</cp:coreProperties>
</file>